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8" r:id="rId2"/>
    <p:sldId id="269" r:id="rId3"/>
    <p:sldId id="270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D4DD3"/>
    <a:srgbClr val="F494B9"/>
    <a:srgbClr val="F0AFFF"/>
    <a:srgbClr val="F7DFFD"/>
    <a:srgbClr val="F5C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48"/>
  </p:normalViewPr>
  <p:slideViewPr>
    <p:cSldViewPr snapToGrid="0">
      <p:cViewPr varScale="1">
        <p:scale>
          <a:sx n="90" d="100"/>
          <a:sy n="90" d="100"/>
        </p:scale>
        <p:origin x="123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8AF78-C8EB-4B18-80F7-73F46308846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80F3-9A1E-4D63-8483-BCA50400A6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120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8AF78-C8EB-4B18-80F7-73F46308846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80F3-9A1E-4D63-8483-BCA50400A6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103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8AF78-C8EB-4B18-80F7-73F46308846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80F3-9A1E-4D63-8483-BCA50400A6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873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8AF78-C8EB-4B18-80F7-73F46308846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80F3-9A1E-4D63-8483-BCA50400A6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580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8AF78-C8EB-4B18-80F7-73F46308846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80F3-9A1E-4D63-8483-BCA50400A6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447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8AF78-C8EB-4B18-80F7-73F46308846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80F3-9A1E-4D63-8483-BCA50400A6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504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8AF78-C8EB-4B18-80F7-73F46308846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80F3-9A1E-4D63-8483-BCA50400A6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472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8AF78-C8EB-4B18-80F7-73F46308846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80F3-9A1E-4D63-8483-BCA50400A6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359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8AF78-C8EB-4B18-80F7-73F46308846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80F3-9A1E-4D63-8483-BCA50400A6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723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8AF78-C8EB-4B18-80F7-73F46308846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80F3-9A1E-4D63-8483-BCA50400A6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152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8AF78-C8EB-4B18-80F7-73F46308846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80F3-9A1E-4D63-8483-BCA50400A6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472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B8AF78-C8EB-4B18-80F7-73F46308846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8480F3-9A1E-4D63-8483-BCA50400A6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379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10">
            <a:extLst>
              <a:ext uri="{FF2B5EF4-FFF2-40B4-BE49-F238E27FC236}">
                <a16:creationId xmlns:a16="http://schemas.microsoft.com/office/drawing/2014/main" id="{7F99D1AD-E314-487D-B060-EB4920B825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7828540"/>
              </p:ext>
            </p:extLst>
          </p:nvPr>
        </p:nvGraphicFramePr>
        <p:xfrm>
          <a:off x="639763" y="404813"/>
          <a:ext cx="4322762" cy="368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1836881" imgH="1564687" progId="Origin95.Graph">
                  <p:embed/>
                </p:oleObj>
              </mc:Choice>
              <mc:Fallback>
                <p:oleObj name="Graph" r:id="rId2" imgW="1836881" imgH="1564687" progId="Origin95.Graph">
                  <p:embed/>
                  <p:pic>
                    <p:nvPicPr>
                      <p:cNvPr id="5" name="Object 10">
                        <a:extLst>
                          <a:ext uri="{FF2B5EF4-FFF2-40B4-BE49-F238E27FC236}">
                            <a16:creationId xmlns:a16="http://schemas.microsoft.com/office/drawing/2014/main" id="{4FA76023-AD59-4155-72E5-80D0D720E8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39763" y="404813"/>
                        <a:ext cx="4322762" cy="3683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0">
            <a:extLst>
              <a:ext uri="{FF2B5EF4-FFF2-40B4-BE49-F238E27FC236}">
                <a16:creationId xmlns:a16="http://schemas.microsoft.com/office/drawing/2014/main" id="{28F3E84E-3217-CC54-620F-E123116D2FA6}"/>
              </a:ext>
            </a:extLst>
          </p:cNvPr>
          <p:cNvSpPr txBox="1"/>
          <p:nvPr/>
        </p:nvSpPr>
        <p:spPr>
          <a:xfrm>
            <a:off x="1374442" y="1118193"/>
            <a:ext cx="784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M60%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E88A7CC-AD78-78C0-2886-B99360151CBA}"/>
              </a:ext>
            </a:extLst>
          </p:cNvPr>
          <p:cNvSpPr txBox="1"/>
          <p:nvPr/>
        </p:nvSpPr>
        <p:spPr>
          <a:xfrm>
            <a:off x="3451412" y="862368"/>
            <a:ext cx="7873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Mn2p</a:t>
            </a:r>
            <a:r>
              <a:rPr kumimoji="1" lang="en-US" altLang="zh-CN" sz="1400" baseline="-25000" dirty="0"/>
              <a:t>3/2</a:t>
            </a:r>
            <a:endParaRPr kumimoji="1" lang="zh-CN" altLang="en-US" sz="1400" baseline="-25000" dirty="0"/>
          </a:p>
        </p:txBody>
      </p:sp>
      <p:cxnSp>
        <p:nvCxnSpPr>
          <p:cNvPr id="7" name="直线箭头连接符 21">
            <a:extLst>
              <a:ext uri="{FF2B5EF4-FFF2-40B4-BE49-F238E27FC236}">
                <a16:creationId xmlns:a16="http://schemas.microsoft.com/office/drawing/2014/main" id="{043B9126-1DF4-D9ED-5F96-BD66D5981198}"/>
              </a:ext>
            </a:extLst>
          </p:cNvPr>
          <p:cNvCxnSpPr/>
          <p:nvPr/>
        </p:nvCxnSpPr>
        <p:spPr>
          <a:xfrm>
            <a:off x="3092102" y="1795488"/>
            <a:ext cx="316976" cy="2857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箭头连接符 23">
            <a:extLst>
              <a:ext uri="{FF2B5EF4-FFF2-40B4-BE49-F238E27FC236}">
                <a16:creationId xmlns:a16="http://schemas.microsoft.com/office/drawing/2014/main" id="{681EBBDE-9C66-9917-8AF9-65D7637CE33F}"/>
              </a:ext>
            </a:extLst>
          </p:cNvPr>
          <p:cNvCxnSpPr>
            <a:cxnSpLocks/>
          </p:cNvCxnSpPr>
          <p:nvPr/>
        </p:nvCxnSpPr>
        <p:spPr>
          <a:xfrm flipV="1">
            <a:off x="3118031" y="2752780"/>
            <a:ext cx="336679" cy="553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箭头连接符 25">
            <a:extLst>
              <a:ext uri="{FF2B5EF4-FFF2-40B4-BE49-F238E27FC236}">
                <a16:creationId xmlns:a16="http://schemas.microsoft.com/office/drawing/2014/main" id="{791924B3-5FCF-BDC9-C000-E1587CCB0DD5}"/>
              </a:ext>
            </a:extLst>
          </p:cNvPr>
          <p:cNvCxnSpPr>
            <a:cxnSpLocks/>
          </p:cNvCxnSpPr>
          <p:nvPr/>
        </p:nvCxnSpPr>
        <p:spPr>
          <a:xfrm flipV="1">
            <a:off x="3308492" y="2994664"/>
            <a:ext cx="353488" cy="61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B7FCD0B7-A4D7-7451-923E-55EAF46746BE}"/>
              </a:ext>
            </a:extLst>
          </p:cNvPr>
          <p:cNvSpPr txBox="1"/>
          <p:nvPr/>
        </p:nvSpPr>
        <p:spPr>
          <a:xfrm>
            <a:off x="2263271" y="1540359"/>
            <a:ext cx="11320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77.72% Mn</a:t>
            </a:r>
            <a:r>
              <a:rPr kumimoji="1" lang="en-US" altLang="zh-CN" sz="1400" baseline="30000" dirty="0"/>
              <a:t>4+</a:t>
            </a:r>
            <a:endParaRPr kumimoji="1" lang="zh-CN" altLang="en-US" sz="1400" baseline="300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8C7554B-925E-6889-88CB-191279EF258B}"/>
              </a:ext>
            </a:extLst>
          </p:cNvPr>
          <p:cNvSpPr txBox="1"/>
          <p:nvPr/>
        </p:nvSpPr>
        <p:spPr>
          <a:xfrm>
            <a:off x="2071054" y="2654216"/>
            <a:ext cx="11320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20.61% Mn</a:t>
            </a:r>
            <a:r>
              <a:rPr kumimoji="1" lang="en-US" altLang="zh-CN" sz="1400" baseline="30000" dirty="0"/>
              <a:t>3+</a:t>
            </a:r>
            <a:endParaRPr kumimoji="1" lang="zh-CN" altLang="en-US" sz="1400" baseline="300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9CFDC33-5131-11A0-0283-60A275827B46}"/>
              </a:ext>
            </a:extLst>
          </p:cNvPr>
          <p:cNvSpPr txBox="1"/>
          <p:nvPr/>
        </p:nvSpPr>
        <p:spPr>
          <a:xfrm>
            <a:off x="2366964" y="2913847"/>
            <a:ext cx="1040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1.68% Mn</a:t>
            </a:r>
            <a:r>
              <a:rPr kumimoji="1" lang="en-US" altLang="zh-CN" sz="1400" baseline="30000" dirty="0"/>
              <a:t>2+</a:t>
            </a:r>
            <a:endParaRPr kumimoji="1" lang="zh-CN" altLang="en-US" sz="1400" baseline="30000" dirty="0"/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B2CE1808-7389-FFFD-7E62-B5D5260877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454324"/>
              </p:ext>
            </p:extLst>
          </p:nvPr>
        </p:nvGraphicFramePr>
        <p:xfrm>
          <a:off x="4789808" y="927968"/>
          <a:ext cx="3486597" cy="3452495"/>
        </p:xfrm>
        <a:graphic>
          <a:graphicData uri="http://schemas.openxmlformats.org/drawingml/2006/table">
            <a:tbl>
              <a:tblPr firstRow="1" firstCol="1" bandRow="1"/>
              <a:tblGrid>
                <a:gridCol w="230482">
                  <a:extLst>
                    <a:ext uri="{9D8B030D-6E8A-4147-A177-3AD203B41FA5}">
                      <a16:colId xmlns:a16="http://schemas.microsoft.com/office/drawing/2014/main" val="4228399510"/>
                    </a:ext>
                  </a:extLst>
                </a:gridCol>
                <a:gridCol w="745326">
                  <a:extLst>
                    <a:ext uri="{9D8B030D-6E8A-4147-A177-3AD203B41FA5}">
                      <a16:colId xmlns:a16="http://schemas.microsoft.com/office/drawing/2014/main" val="4236290709"/>
                    </a:ext>
                  </a:extLst>
                </a:gridCol>
                <a:gridCol w="760366">
                  <a:extLst>
                    <a:ext uri="{9D8B030D-6E8A-4147-A177-3AD203B41FA5}">
                      <a16:colId xmlns:a16="http://schemas.microsoft.com/office/drawing/2014/main" val="3375985183"/>
                    </a:ext>
                  </a:extLst>
                </a:gridCol>
                <a:gridCol w="673469">
                  <a:extLst>
                    <a:ext uri="{9D8B030D-6E8A-4147-A177-3AD203B41FA5}">
                      <a16:colId xmlns:a16="http://schemas.microsoft.com/office/drawing/2014/main" val="440522404"/>
                    </a:ext>
                  </a:extLst>
                </a:gridCol>
                <a:gridCol w="660101">
                  <a:extLst>
                    <a:ext uri="{9D8B030D-6E8A-4147-A177-3AD203B41FA5}">
                      <a16:colId xmlns:a16="http://schemas.microsoft.com/office/drawing/2014/main" val="2609361704"/>
                    </a:ext>
                  </a:extLst>
                </a:gridCol>
                <a:gridCol w="416853">
                  <a:extLst>
                    <a:ext uri="{9D8B030D-6E8A-4147-A177-3AD203B41FA5}">
                      <a16:colId xmlns:a16="http://schemas.microsoft.com/office/drawing/2014/main" val="1920514764"/>
                    </a:ext>
                  </a:extLst>
                </a:gridCol>
              </a:tblGrid>
              <a:tr h="110354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No</a:t>
                      </a:r>
                      <a:endParaRPr lang="zh-CN" sz="900" b="1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Name</a:t>
                      </a:r>
                      <a:endParaRPr lang="zh-CN" sz="900" b="1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Position (eV)</a:t>
                      </a:r>
                      <a:endParaRPr lang="zh-CN" sz="900" b="1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FWHM (eV)</a:t>
                      </a:r>
                      <a:endParaRPr lang="zh-CN" sz="900" b="1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Line shape</a:t>
                      </a:r>
                      <a:endParaRPr lang="zh-CN" sz="900" b="1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altLang="zh-CN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At%</a:t>
                      </a:r>
                      <a:endParaRPr lang="zh-CN" sz="900" b="1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8357024"/>
                  </a:ext>
                </a:extLst>
              </a:tr>
              <a:tr h="86203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8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</a:t>
                      </a:r>
                      <a:endParaRPr lang="zh-CN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8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Mn</a:t>
                      </a:r>
                      <a:r>
                        <a:rPr lang="en-US" sz="800" baseline="300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4+</a:t>
                      </a:r>
                      <a:r>
                        <a:rPr lang="en-US" sz="8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-Peak 1</a:t>
                      </a:r>
                      <a:endParaRPr lang="zh-CN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641.45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1.68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GL(50)</a:t>
                      </a:r>
                      <a:endParaRPr lang="zh-CN" altLang="en-US" sz="80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29.78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8642294"/>
                  </a:ext>
                </a:extLst>
              </a:tr>
              <a:tr h="86203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8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2</a:t>
                      </a:r>
                      <a:endParaRPr lang="zh-CN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8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Mn</a:t>
                      </a:r>
                      <a:r>
                        <a:rPr lang="en-US" sz="800" baseline="300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4+</a:t>
                      </a:r>
                      <a:r>
                        <a:rPr lang="en-US" sz="8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-Peak 2</a:t>
                      </a:r>
                      <a:endParaRPr lang="zh-CN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642.19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1.68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kern="1200" noProof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GL(50)</a:t>
                      </a:r>
                      <a:endParaRPr lang="zh-CN" altLang="zh-CN" sz="80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15.9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1852876"/>
                  </a:ext>
                </a:extLst>
              </a:tr>
              <a:tr h="86203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8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3</a:t>
                      </a:r>
                      <a:endParaRPr lang="zh-CN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8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Mn</a:t>
                      </a:r>
                      <a:r>
                        <a:rPr lang="en-US" sz="800" baseline="300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4+</a:t>
                      </a:r>
                      <a:r>
                        <a:rPr lang="en-US" sz="8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-Peak 3</a:t>
                      </a:r>
                      <a:endParaRPr lang="zh-CN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642.78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1.68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kern="12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GL(50)</a:t>
                      </a:r>
                      <a:endParaRPr lang="zh-CN" altLang="zh-CN" sz="80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14.77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1520048"/>
                  </a:ext>
                </a:extLst>
              </a:tr>
              <a:tr h="86203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4</a:t>
                      </a:r>
                      <a:endParaRPr lang="zh-CN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8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Mn</a:t>
                      </a:r>
                      <a:r>
                        <a:rPr lang="en-US" sz="800" baseline="300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4+</a:t>
                      </a:r>
                      <a:r>
                        <a:rPr lang="en-US" sz="8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-Peak 4</a:t>
                      </a:r>
                      <a:endParaRPr lang="zh-CN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643.48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1.68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kern="1200" noProof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GL(50)</a:t>
                      </a:r>
                      <a:endParaRPr lang="zh-CN" altLang="zh-CN" sz="80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8.25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7776393"/>
                  </a:ext>
                </a:extLst>
              </a:tr>
              <a:tr h="86203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5</a:t>
                      </a:r>
                      <a:endParaRPr lang="zh-CN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8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Mn</a:t>
                      </a:r>
                      <a:r>
                        <a:rPr lang="en-US" sz="800" baseline="300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4+</a:t>
                      </a:r>
                      <a:r>
                        <a:rPr lang="en-US" sz="8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-Peak 5</a:t>
                      </a:r>
                      <a:endParaRPr lang="zh-CN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644.3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1.68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kern="1200" noProof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GL(50)</a:t>
                      </a:r>
                      <a:endParaRPr lang="zh-CN" altLang="zh-CN" sz="80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4.97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6798750"/>
                  </a:ext>
                </a:extLst>
              </a:tr>
              <a:tr h="86203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</a:t>
                      </a:r>
                      <a:endParaRPr lang="zh-CN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Mn</a:t>
                      </a:r>
                      <a:r>
                        <a:rPr kumimoji="0" lang="en-US" altLang="zh-CN" sz="8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4+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-Peak 6</a:t>
                      </a:r>
                      <a:endParaRPr kumimoji="0" lang="zh-CN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645.17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1.68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kern="1200" noProof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GL(50)</a:t>
                      </a:r>
                      <a:endParaRPr lang="zh-CN" altLang="zh-CN" sz="80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2.59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0953373"/>
                  </a:ext>
                </a:extLst>
              </a:tr>
              <a:tr h="86203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7</a:t>
                      </a:r>
                      <a:endParaRPr lang="zh-CN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Mn</a:t>
                      </a:r>
                      <a:r>
                        <a:rPr kumimoji="0" lang="en-US" altLang="zh-CN" sz="8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4+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-Peak 7</a:t>
                      </a:r>
                      <a:endParaRPr kumimoji="0" lang="zh-CN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646.26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1.68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kern="1200" noProof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GL(50)</a:t>
                      </a:r>
                      <a:endParaRPr lang="zh-CN" altLang="zh-CN" sz="80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1.07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956094"/>
                  </a:ext>
                </a:extLst>
              </a:tr>
              <a:tr h="86203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8</a:t>
                      </a:r>
                      <a:endParaRPr lang="zh-CN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Mn</a:t>
                      </a:r>
                      <a:r>
                        <a:rPr kumimoji="0" lang="en-US" altLang="zh-CN" sz="8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4+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-Peak 8</a:t>
                      </a:r>
                      <a:endParaRPr kumimoji="0" lang="zh-CN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646.48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1.68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kern="1200" noProof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GL(50)</a:t>
                      </a:r>
                      <a:endParaRPr lang="zh-CN" altLang="zh-CN" sz="80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0.39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5164"/>
                  </a:ext>
                </a:extLst>
              </a:tr>
              <a:tr h="86203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9</a:t>
                      </a:r>
                      <a:endParaRPr lang="zh-CN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8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Mn</a:t>
                      </a:r>
                      <a:r>
                        <a:rPr lang="en-US" sz="800" baseline="300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3+</a:t>
                      </a:r>
                      <a:r>
                        <a:rPr lang="en-US" sz="8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-Peak 1</a:t>
                      </a:r>
                      <a:endParaRPr lang="zh-CN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640.16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1.82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kern="1200" noProof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GL(50)</a:t>
                      </a:r>
                      <a:endParaRPr lang="zh-CN" altLang="zh-CN" sz="80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5.1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1878869"/>
                  </a:ext>
                </a:extLst>
              </a:tr>
              <a:tr h="86203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10</a:t>
                      </a:r>
                      <a:endParaRPr lang="zh-CN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Mn</a:t>
                      </a:r>
                      <a:r>
                        <a:rPr kumimoji="0" lang="en-US" altLang="zh-CN" sz="8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3+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-Peak 2</a:t>
                      </a:r>
                      <a:endParaRPr kumimoji="0" lang="zh-CN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640.95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1.82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kern="1200" noProof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GL(50)</a:t>
                      </a:r>
                      <a:endParaRPr lang="zh-CN" altLang="zh-CN" sz="80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5.13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1514785"/>
                  </a:ext>
                </a:extLst>
              </a:tr>
              <a:tr h="86203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11</a:t>
                      </a:r>
                      <a:endParaRPr lang="zh-CN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Mn</a:t>
                      </a:r>
                      <a:r>
                        <a:rPr kumimoji="0" lang="en-US" altLang="zh-CN" sz="8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3+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-Peak 3</a:t>
                      </a:r>
                      <a:endParaRPr kumimoji="0" lang="zh-CN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641.67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1.82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kern="1200" noProof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GL(50)</a:t>
                      </a:r>
                      <a:endParaRPr lang="zh-CN" altLang="zh-CN" sz="80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4.09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5732967"/>
                  </a:ext>
                </a:extLst>
              </a:tr>
              <a:tr h="7640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8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12</a:t>
                      </a:r>
                      <a:endParaRPr lang="zh-CN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Mn</a:t>
                      </a:r>
                      <a:r>
                        <a:rPr kumimoji="0" lang="en-US" altLang="zh-CN" sz="8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3+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-Peak 4</a:t>
                      </a:r>
                      <a:endParaRPr kumimoji="0" lang="zh-CN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642.38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1.82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kern="1200" noProof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GL(50)</a:t>
                      </a:r>
                      <a:endParaRPr lang="zh-CN" altLang="zh-CN" sz="80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3.17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56005"/>
                  </a:ext>
                </a:extLst>
              </a:tr>
              <a:tr h="7640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altLang="zh-CN" sz="800" dirty="0"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13</a:t>
                      </a:r>
                      <a:endParaRPr lang="zh-CN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Mn</a:t>
                      </a:r>
                      <a:r>
                        <a:rPr kumimoji="0" lang="en-US" altLang="zh-CN" sz="8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3+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-Peak 5</a:t>
                      </a:r>
                      <a:endParaRPr kumimoji="0" lang="zh-CN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643.21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1.82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kern="1200" noProof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GL(50)</a:t>
                      </a:r>
                      <a:endParaRPr lang="zh-CN" altLang="zh-CN" sz="80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1.67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8735372"/>
                  </a:ext>
                </a:extLst>
              </a:tr>
              <a:tr h="7640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altLang="zh-CN" sz="800" dirty="0"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14</a:t>
                      </a:r>
                      <a:endParaRPr lang="zh-CN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Mn</a:t>
                      </a:r>
                      <a:r>
                        <a:rPr kumimoji="0" lang="en-US" altLang="zh-CN" sz="8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3+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-Peak 6</a:t>
                      </a:r>
                      <a:endParaRPr kumimoji="0" lang="zh-CN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644.09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1.82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kern="1200" noProof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GL(50)</a:t>
                      </a:r>
                      <a:endParaRPr lang="zh-CN" altLang="zh-CN" sz="80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0.9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6840559"/>
                  </a:ext>
                </a:extLst>
              </a:tr>
              <a:tr h="7640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altLang="zh-CN" sz="800" dirty="0"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15</a:t>
                      </a:r>
                      <a:endParaRPr lang="zh-CN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Mn</a:t>
                      </a:r>
                      <a:r>
                        <a:rPr kumimoji="0" lang="en-US" altLang="zh-CN" sz="8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3+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-Peak 7</a:t>
                      </a:r>
                      <a:endParaRPr kumimoji="0" lang="zh-CN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645.07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1.82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kern="12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GL(50)</a:t>
                      </a:r>
                      <a:endParaRPr lang="zh-CN" altLang="zh-CN" sz="80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3576969"/>
                  </a:ext>
                </a:extLst>
              </a:tr>
              <a:tr h="7640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altLang="zh-CN" sz="800" dirty="0"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16</a:t>
                      </a:r>
                      <a:endParaRPr lang="zh-CN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Mn</a:t>
                      </a:r>
                      <a:r>
                        <a:rPr kumimoji="0" lang="en-US" altLang="zh-CN" sz="8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3+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-Peak 8</a:t>
                      </a:r>
                      <a:endParaRPr kumimoji="0" lang="zh-CN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638.31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1.82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kern="12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GL(50)</a:t>
                      </a:r>
                      <a:endParaRPr lang="zh-CN" altLang="zh-CN" sz="80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0.18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1429573"/>
                  </a:ext>
                </a:extLst>
              </a:tr>
              <a:tr h="7640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altLang="zh-CN" sz="800" dirty="0"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17</a:t>
                      </a:r>
                      <a:endParaRPr lang="zh-CN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Mn</a:t>
                      </a:r>
                      <a:r>
                        <a:rPr kumimoji="0" lang="en-US" altLang="zh-CN" sz="8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2+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-Peak 1</a:t>
                      </a:r>
                      <a:endParaRPr kumimoji="0" lang="zh-CN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638.68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1.82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kern="12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GL(50)</a:t>
                      </a:r>
                      <a:endParaRPr lang="zh-CN" altLang="zh-CN" sz="80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0.53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0089243"/>
                  </a:ext>
                </a:extLst>
              </a:tr>
              <a:tr h="7640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altLang="zh-CN" sz="800" dirty="0"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18</a:t>
                      </a:r>
                      <a:endParaRPr lang="zh-CN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Mn</a:t>
                      </a:r>
                      <a:r>
                        <a:rPr kumimoji="0" lang="en-US" altLang="zh-CN" sz="8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2+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-Peak 2</a:t>
                      </a:r>
                      <a:endParaRPr kumimoji="0" lang="zh-CN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639.72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1.82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kern="12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GL(30)</a:t>
                      </a:r>
                      <a:endParaRPr lang="zh-CN" altLang="zh-CN" sz="80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6139011"/>
                  </a:ext>
                </a:extLst>
              </a:tr>
              <a:tr h="7640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altLang="zh-CN" sz="800" dirty="0"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19</a:t>
                      </a:r>
                      <a:endParaRPr lang="zh-CN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Mn</a:t>
                      </a:r>
                      <a:r>
                        <a:rPr kumimoji="0" lang="en-US" altLang="zh-CN" sz="8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2+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-Peak 3</a:t>
                      </a:r>
                      <a:endParaRPr kumimoji="0" lang="zh-CN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640.48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1.82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kern="12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GL(30)</a:t>
                      </a:r>
                      <a:endParaRPr lang="zh-CN" altLang="zh-CN" sz="80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0.27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4968409"/>
                  </a:ext>
                </a:extLst>
              </a:tr>
              <a:tr h="7640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altLang="zh-CN" sz="800" dirty="0"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20</a:t>
                      </a:r>
                      <a:endParaRPr lang="zh-CN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Mn</a:t>
                      </a:r>
                      <a:r>
                        <a:rPr kumimoji="0" lang="en-US" altLang="zh-CN" sz="8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2+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-Peak 4</a:t>
                      </a:r>
                      <a:endParaRPr kumimoji="0" lang="zh-CN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641.36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1.82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kern="12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GL(30)</a:t>
                      </a:r>
                      <a:endParaRPr lang="zh-CN" altLang="zh-CN" sz="80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9701401"/>
                  </a:ext>
                </a:extLst>
              </a:tr>
              <a:tr h="7640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altLang="zh-CN" sz="800" dirty="0"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21</a:t>
                      </a:r>
                      <a:endParaRPr lang="zh-CN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Mn</a:t>
                      </a:r>
                      <a:r>
                        <a:rPr kumimoji="0" lang="en-US" altLang="zh-CN" sz="8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2+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-Peak 5</a:t>
                      </a:r>
                      <a:endParaRPr kumimoji="0" lang="zh-CN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642.44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1.82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kern="1200" noProof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GL(30)</a:t>
                      </a:r>
                      <a:endParaRPr lang="zh-CN" altLang="zh-CN" sz="80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0.09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2421500"/>
                  </a:ext>
                </a:extLst>
              </a:tr>
              <a:tr h="7640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altLang="zh-CN" sz="800" dirty="0"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22</a:t>
                      </a:r>
                      <a:endParaRPr lang="zh-CN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Mn</a:t>
                      </a:r>
                      <a:r>
                        <a:rPr kumimoji="0" lang="en-US" altLang="zh-CN" sz="8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2+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-Peak 6</a:t>
                      </a:r>
                      <a:endParaRPr kumimoji="0" lang="zh-CN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643.53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1.82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kern="1200" noProof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GL(30)</a:t>
                      </a:r>
                      <a:endParaRPr lang="zh-CN" altLang="zh-CN" sz="80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0.04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4639490"/>
                  </a:ext>
                </a:extLst>
              </a:tr>
              <a:tr h="7640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altLang="zh-CN" sz="800" dirty="0"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23</a:t>
                      </a:r>
                      <a:endParaRPr lang="zh-CN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Mn</a:t>
                      </a:r>
                      <a:r>
                        <a:rPr kumimoji="0" lang="en-US" altLang="zh-CN" sz="8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2+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-Peak 7</a:t>
                      </a:r>
                      <a:endParaRPr kumimoji="0" lang="zh-CN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645.56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1.82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kern="12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GL(30)</a:t>
                      </a:r>
                      <a:endParaRPr lang="zh-CN" altLang="zh-CN" sz="80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0144506"/>
                  </a:ext>
                </a:extLst>
              </a:tr>
              <a:tr h="86203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altLang="zh-CN" sz="8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24</a:t>
                      </a:r>
                      <a:endParaRPr lang="zh-CN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Mn</a:t>
                      </a:r>
                      <a:r>
                        <a:rPr kumimoji="0" lang="en-US" altLang="zh-CN" sz="8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2+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-Peak 8</a:t>
                      </a:r>
                      <a:endParaRPr kumimoji="0" lang="zh-CN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637.03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1.82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kern="12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GL(30)</a:t>
                      </a:r>
                      <a:endParaRPr lang="zh-CN" altLang="zh-CN" sz="80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0.02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8249960"/>
                  </a:ext>
                </a:extLst>
              </a:tr>
            </a:tbl>
          </a:graphicData>
        </a:graphic>
      </p:graphicFrame>
      <p:sp>
        <p:nvSpPr>
          <p:cNvPr id="16" name="文本框 15">
            <a:extLst>
              <a:ext uri="{FF2B5EF4-FFF2-40B4-BE49-F238E27FC236}">
                <a16:creationId xmlns:a16="http://schemas.microsoft.com/office/drawing/2014/main" id="{A9D9244C-4EAC-58EF-4D99-2621628FE173}"/>
              </a:ext>
            </a:extLst>
          </p:cNvPr>
          <p:cNvSpPr txBox="1"/>
          <p:nvPr/>
        </p:nvSpPr>
        <p:spPr>
          <a:xfrm>
            <a:off x="269624" y="4846981"/>
            <a:ext cx="87178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The fitting parameters of the Mn2p3/2 spectra, such as the relative amounts of each oxidation state, were presented in right table. The spectra was calibrated using the C1s peak at 284.4 eV.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DC2EE63-3B1B-BB31-0C5D-8A38FDC161DE}"/>
              </a:ext>
            </a:extLst>
          </p:cNvPr>
          <p:cNvSpPr txBox="1"/>
          <p:nvPr/>
        </p:nvSpPr>
        <p:spPr>
          <a:xfrm>
            <a:off x="319990" y="177552"/>
            <a:ext cx="20469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before_electrolysis</a:t>
            </a:r>
          </a:p>
        </p:txBody>
      </p:sp>
    </p:spTree>
    <p:extLst>
      <p:ext uri="{BB962C8B-B14F-4D97-AF65-F5344CB8AC3E}">
        <p14:creationId xmlns:p14="http://schemas.microsoft.com/office/powerpoint/2010/main" val="3341544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10">
            <a:extLst>
              <a:ext uri="{FF2B5EF4-FFF2-40B4-BE49-F238E27FC236}">
                <a16:creationId xmlns:a16="http://schemas.microsoft.com/office/drawing/2014/main" id="{7F99D1AD-E314-487D-B060-EB4920B825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3754168"/>
              </p:ext>
            </p:extLst>
          </p:nvPr>
        </p:nvGraphicFramePr>
        <p:xfrm>
          <a:off x="639763" y="404813"/>
          <a:ext cx="4322762" cy="368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1836881" imgH="1564687" progId="Origin95.Graph">
                  <p:embed/>
                </p:oleObj>
              </mc:Choice>
              <mc:Fallback>
                <p:oleObj name="Graph" r:id="rId2" imgW="1836881" imgH="1564687" progId="Origin95.Graph">
                  <p:embed/>
                  <p:pic>
                    <p:nvPicPr>
                      <p:cNvPr id="4" name="Object 10">
                        <a:extLst>
                          <a:ext uri="{FF2B5EF4-FFF2-40B4-BE49-F238E27FC236}">
                            <a16:creationId xmlns:a16="http://schemas.microsoft.com/office/drawing/2014/main" id="{7F99D1AD-E314-487D-B060-EB4920B825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39763" y="404813"/>
                        <a:ext cx="4322762" cy="3683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0">
            <a:extLst>
              <a:ext uri="{FF2B5EF4-FFF2-40B4-BE49-F238E27FC236}">
                <a16:creationId xmlns:a16="http://schemas.microsoft.com/office/drawing/2014/main" id="{28F3E84E-3217-CC54-620F-E123116D2FA6}"/>
              </a:ext>
            </a:extLst>
          </p:cNvPr>
          <p:cNvSpPr txBox="1"/>
          <p:nvPr/>
        </p:nvSpPr>
        <p:spPr>
          <a:xfrm>
            <a:off x="1374442" y="1118193"/>
            <a:ext cx="784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M60%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E88A7CC-AD78-78C0-2886-B99360151CBA}"/>
              </a:ext>
            </a:extLst>
          </p:cNvPr>
          <p:cNvSpPr txBox="1"/>
          <p:nvPr/>
        </p:nvSpPr>
        <p:spPr>
          <a:xfrm>
            <a:off x="3451412" y="827164"/>
            <a:ext cx="7873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Mn2p</a:t>
            </a:r>
            <a:r>
              <a:rPr kumimoji="1" lang="en-US" altLang="zh-CN" sz="1400" baseline="-25000" dirty="0"/>
              <a:t>3/2</a:t>
            </a:r>
            <a:endParaRPr kumimoji="1" lang="zh-CN" altLang="en-US" sz="1400" baseline="-25000" dirty="0"/>
          </a:p>
        </p:txBody>
      </p:sp>
      <p:cxnSp>
        <p:nvCxnSpPr>
          <p:cNvPr id="7" name="直线箭头连接符 21">
            <a:extLst>
              <a:ext uri="{FF2B5EF4-FFF2-40B4-BE49-F238E27FC236}">
                <a16:creationId xmlns:a16="http://schemas.microsoft.com/office/drawing/2014/main" id="{043B9126-1DF4-D9ED-5F96-BD66D5981198}"/>
              </a:ext>
            </a:extLst>
          </p:cNvPr>
          <p:cNvCxnSpPr/>
          <p:nvPr/>
        </p:nvCxnSpPr>
        <p:spPr>
          <a:xfrm>
            <a:off x="3159836" y="1812421"/>
            <a:ext cx="316976" cy="2857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箭头连接符 23">
            <a:extLst>
              <a:ext uri="{FF2B5EF4-FFF2-40B4-BE49-F238E27FC236}">
                <a16:creationId xmlns:a16="http://schemas.microsoft.com/office/drawing/2014/main" id="{681EBBDE-9C66-9917-8AF9-65D7637CE33F}"/>
              </a:ext>
            </a:extLst>
          </p:cNvPr>
          <p:cNvCxnSpPr>
            <a:cxnSpLocks/>
          </p:cNvCxnSpPr>
          <p:nvPr/>
        </p:nvCxnSpPr>
        <p:spPr>
          <a:xfrm flipV="1">
            <a:off x="3164413" y="2805040"/>
            <a:ext cx="336679" cy="553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箭头连接符 25">
            <a:extLst>
              <a:ext uri="{FF2B5EF4-FFF2-40B4-BE49-F238E27FC236}">
                <a16:creationId xmlns:a16="http://schemas.microsoft.com/office/drawing/2014/main" id="{791924B3-5FCF-BDC9-C000-E1587CCB0DD5}"/>
              </a:ext>
            </a:extLst>
          </p:cNvPr>
          <p:cNvCxnSpPr>
            <a:cxnSpLocks/>
          </p:cNvCxnSpPr>
          <p:nvPr/>
        </p:nvCxnSpPr>
        <p:spPr>
          <a:xfrm flipV="1">
            <a:off x="3370370" y="3033672"/>
            <a:ext cx="353488" cy="61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B7FCD0B7-A4D7-7451-923E-55EAF46746BE}"/>
              </a:ext>
            </a:extLst>
          </p:cNvPr>
          <p:cNvSpPr txBox="1"/>
          <p:nvPr/>
        </p:nvSpPr>
        <p:spPr>
          <a:xfrm>
            <a:off x="2331005" y="1557292"/>
            <a:ext cx="11320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56.91% Mn</a:t>
            </a:r>
            <a:r>
              <a:rPr kumimoji="1" lang="en-US" altLang="zh-CN" sz="1400" baseline="30000" dirty="0"/>
              <a:t>4+</a:t>
            </a:r>
            <a:endParaRPr kumimoji="1" lang="zh-CN" altLang="en-US" sz="1400" baseline="300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8C7554B-925E-6889-88CB-191279EF258B}"/>
              </a:ext>
            </a:extLst>
          </p:cNvPr>
          <p:cNvSpPr txBox="1"/>
          <p:nvPr/>
        </p:nvSpPr>
        <p:spPr>
          <a:xfrm>
            <a:off x="2110062" y="2706476"/>
            <a:ext cx="11320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41.03% Mn</a:t>
            </a:r>
            <a:r>
              <a:rPr kumimoji="1" lang="en-US" altLang="zh-CN" sz="1400" baseline="30000" dirty="0"/>
              <a:t>3+</a:t>
            </a:r>
            <a:endParaRPr kumimoji="1" lang="zh-CN" altLang="en-US" sz="1400" baseline="300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9CFDC33-5131-11A0-0283-60A275827B46}"/>
              </a:ext>
            </a:extLst>
          </p:cNvPr>
          <p:cNvSpPr txBox="1"/>
          <p:nvPr/>
        </p:nvSpPr>
        <p:spPr>
          <a:xfrm>
            <a:off x="2414842" y="2919725"/>
            <a:ext cx="1040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2.07% Mn</a:t>
            </a:r>
            <a:r>
              <a:rPr kumimoji="1" lang="en-US" altLang="zh-CN" sz="1400" baseline="30000" dirty="0"/>
              <a:t>2+</a:t>
            </a:r>
            <a:endParaRPr kumimoji="1" lang="zh-CN" altLang="en-US" sz="1400" baseline="30000" dirty="0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AC754B6A-A4AD-4027-653F-5BC1F1FF77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810071"/>
              </p:ext>
            </p:extLst>
          </p:nvPr>
        </p:nvGraphicFramePr>
        <p:xfrm>
          <a:off x="4789808" y="927968"/>
          <a:ext cx="3486597" cy="3458960"/>
        </p:xfrm>
        <a:graphic>
          <a:graphicData uri="http://schemas.openxmlformats.org/drawingml/2006/table">
            <a:tbl>
              <a:tblPr firstRow="1" firstCol="1" bandRow="1"/>
              <a:tblGrid>
                <a:gridCol w="230482">
                  <a:extLst>
                    <a:ext uri="{9D8B030D-6E8A-4147-A177-3AD203B41FA5}">
                      <a16:colId xmlns:a16="http://schemas.microsoft.com/office/drawing/2014/main" val="4228399510"/>
                    </a:ext>
                  </a:extLst>
                </a:gridCol>
                <a:gridCol w="745326">
                  <a:extLst>
                    <a:ext uri="{9D8B030D-6E8A-4147-A177-3AD203B41FA5}">
                      <a16:colId xmlns:a16="http://schemas.microsoft.com/office/drawing/2014/main" val="4236290709"/>
                    </a:ext>
                  </a:extLst>
                </a:gridCol>
                <a:gridCol w="760366">
                  <a:extLst>
                    <a:ext uri="{9D8B030D-6E8A-4147-A177-3AD203B41FA5}">
                      <a16:colId xmlns:a16="http://schemas.microsoft.com/office/drawing/2014/main" val="3375985183"/>
                    </a:ext>
                  </a:extLst>
                </a:gridCol>
                <a:gridCol w="673469">
                  <a:extLst>
                    <a:ext uri="{9D8B030D-6E8A-4147-A177-3AD203B41FA5}">
                      <a16:colId xmlns:a16="http://schemas.microsoft.com/office/drawing/2014/main" val="440522404"/>
                    </a:ext>
                  </a:extLst>
                </a:gridCol>
                <a:gridCol w="660101">
                  <a:extLst>
                    <a:ext uri="{9D8B030D-6E8A-4147-A177-3AD203B41FA5}">
                      <a16:colId xmlns:a16="http://schemas.microsoft.com/office/drawing/2014/main" val="2609361704"/>
                    </a:ext>
                  </a:extLst>
                </a:gridCol>
                <a:gridCol w="416853">
                  <a:extLst>
                    <a:ext uri="{9D8B030D-6E8A-4147-A177-3AD203B41FA5}">
                      <a16:colId xmlns:a16="http://schemas.microsoft.com/office/drawing/2014/main" val="1920514764"/>
                    </a:ext>
                  </a:extLst>
                </a:gridCol>
              </a:tblGrid>
              <a:tr h="110354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No</a:t>
                      </a:r>
                      <a:endParaRPr lang="zh-CN" sz="900" b="1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Name</a:t>
                      </a:r>
                      <a:endParaRPr lang="zh-CN" sz="900" b="1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Position (eV)</a:t>
                      </a:r>
                      <a:endParaRPr lang="zh-CN" sz="900" b="1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FWHM (eV)</a:t>
                      </a:r>
                      <a:endParaRPr lang="zh-CN" sz="900" b="1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Line shape</a:t>
                      </a:r>
                      <a:endParaRPr lang="zh-CN" sz="900" b="1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altLang="zh-CN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At%</a:t>
                      </a:r>
                      <a:endParaRPr lang="zh-CN" sz="900" b="1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8357024"/>
                  </a:ext>
                </a:extLst>
              </a:tr>
              <a:tr h="143879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8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</a:t>
                      </a:r>
                      <a:endParaRPr lang="zh-CN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8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Mn</a:t>
                      </a:r>
                      <a:r>
                        <a:rPr lang="en-US" sz="800" baseline="300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4+</a:t>
                      </a:r>
                      <a:r>
                        <a:rPr lang="en-US" sz="8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-Peak 1</a:t>
                      </a:r>
                      <a:endParaRPr lang="zh-CN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641.45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1.31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GL(50)</a:t>
                      </a:r>
                      <a:endParaRPr lang="zh-CN" altLang="en-US" sz="80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21.81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8642294"/>
                  </a:ext>
                </a:extLst>
              </a:tr>
              <a:tr h="86203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8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2</a:t>
                      </a:r>
                      <a:endParaRPr lang="zh-CN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8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Mn</a:t>
                      </a:r>
                      <a:r>
                        <a:rPr lang="en-US" sz="800" baseline="300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4+</a:t>
                      </a:r>
                      <a:r>
                        <a:rPr lang="en-US" sz="8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-Peak 2</a:t>
                      </a:r>
                      <a:endParaRPr lang="zh-CN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642.19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1.31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kern="12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GL(50)</a:t>
                      </a:r>
                      <a:endParaRPr lang="zh-CN" altLang="zh-CN" sz="80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11.64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1852876"/>
                  </a:ext>
                </a:extLst>
              </a:tr>
              <a:tr h="86203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8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3</a:t>
                      </a:r>
                      <a:endParaRPr lang="zh-CN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8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Mn</a:t>
                      </a:r>
                      <a:r>
                        <a:rPr lang="en-US" sz="800" baseline="300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4+</a:t>
                      </a:r>
                      <a:r>
                        <a:rPr lang="en-US" sz="8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-Peak 3</a:t>
                      </a:r>
                      <a:endParaRPr lang="zh-CN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642.78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1.31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kern="12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GL(50)</a:t>
                      </a:r>
                      <a:endParaRPr lang="zh-CN" altLang="zh-CN" sz="80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10.82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1520048"/>
                  </a:ext>
                </a:extLst>
              </a:tr>
              <a:tr h="86203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4</a:t>
                      </a:r>
                      <a:endParaRPr lang="zh-CN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8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Mn</a:t>
                      </a:r>
                      <a:r>
                        <a:rPr lang="en-US" sz="800" baseline="300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4+</a:t>
                      </a:r>
                      <a:r>
                        <a:rPr lang="en-US" sz="8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-Peak 4</a:t>
                      </a:r>
                      <a:endParaRPr lang="zh-CN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643.48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1.31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kern="1200" noProof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GL(50)</a:t>
                      </a:r>
                      <a:endParaRPr lang="zh-CN" altLang="zh-CN" sz="80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6.04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7776393"/>
                  </a:ext>
                </a:extLst>
              </a:tr>
              <a:tr h="86203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5</a:t>
                      </a:r>
                      <a:endParaRPr lang="zh-CN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8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Mn</a:t>
                      </a:r>
                      <a:r>
                        <a:rPr lang="en-US" sz="800" baseline="300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4+</a:t>
                      </a:r>
                      <a:r>
                        <a:rPr lang="en-US" sz="8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-Peak 5</a:t>
                      </a:r>
                      <a:endParaRPr lang="zh-CN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644.3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1.31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kern="1200" noProof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GL(50)</a:t>
                      </a:r>
                      <a:endParaRPr lang="zh-CN" altLang="zh-CN" sz="80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3.64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6798750"/>
                  </a:ext>
                </a:extLst>
              </a:tr>
              <a:tr h="86203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</a:t>
                      </a:r>
                      <a:endParaRPr lang="zh-CN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Mn</a:t>
                      </a:r>
                      <a:r>
                        <a:rPr kumimoji="0" lang="en-US" altLang="zh-CN" sz="8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4+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-Peak 6</a:t>
                      </a:r>
                      <a:endParaRPr kumimoji="0" lang="zh-CN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645.17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1.31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kern="1200" noProof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GL(50)</a:t>
                      </a:r>
                      <a:endParaRPr lang="zh-CN" altLang="zh-CN" sz="80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1.9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0953373"/>
                  </a:ext>
                </a:extLst>
              </a:tr>
              <a:tr h="86203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7</a:t>
                      </a:r>
                      <a:endParaRPr lang="zh-CN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Mn</a:t>
                      </a:r>
                      <a:r>
                        <a:rPr kumimoji="0" lang="en-US" altLang="zh-CN" sz="8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4+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-Peak 7</a:t>
                      </a:r>
                      <a:endParaRPr kumimoji="0" lang="zh-CN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646.26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1.31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kern="1200" noProof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GL(50)</a:t>
                      </a:r>
                      <a:endParaRPr lang="zh-CN" altLang="zh-CN" sz="80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0.78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956094"/>
                  </a:ext>
                </a:extLst>
              </a:tr>
              <a:tr h="86203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8</a:t>
                      </a:r>
                      <a:endParaRPr lang="zh-CN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Mn</a:t>
                      </a:r>
                      <a:r>
                        <a:rPr kumimoji="0" lang="en-US" altLang="zh-CN" sz="8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4+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-Peak 8</a:t>
                      </a:r>
                      <a:endParaRPr kumimoji="0" lang="zh-CN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646.48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1.31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kern="1200" noProof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GL(50)</a:t>
                      </a:r>
                      <a:endParaRPr lang="zh-CN" altLang="zh-CN" sz="80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5164"/>
                  </a:ext>
                </a:extLst>
              </a:tr>
              <a:tr h="86203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9</a:t>
                      </a:r>
                      <a:endParaRPr lang="zh-CN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8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Mn</a:t>
                      </a:r>
                      <a:r>
                        <a:rPr lang="en-US" sz="800" baseline="300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3+</a:t>
                      </a:r>
                      <a:r>
                        <a:rPr lang="en-US" sz="8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-Peak 1</a:t>
                      </a:r>
                      <a:endParaRPr lang="zh-CN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640.16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1.42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kern="1200" noProof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GL(50)</a:t>
                      </a:r>
                      <a:endParaRPr lang="zh-CN" altLang="zh-CN" sz="80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10.15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1878869"/>
                  </a:ext>
                </a:extLst>
              </a:tr>
              <a:tr h="86203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10</a:t>
                      </a:r>
                      <a:endParaRPr lang="zh-CN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Mn</a:t>
                      </a:r>
                      <a:r>
                        <a:rPr kumimoji="0" lang="en-US" altLang="zh-CN" sz="8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3+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-Peak 2</a:t>
                      </a:r>
                      <a:endParaRPr kumimoji="0" lang="zh-CN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640.95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1.42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kern="1200" noProof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GL(50)</a:t>
                      </a:r>
                      <a:endParaRPr lang="zh-CN" altLang="zh-CN" sz="80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10.2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1514785"/>
                  </a:ext>
                </a:extLst>
              </a:tr>
              <a:tr h="86203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11</a:t>
                      </a:r>
                      <a:endParaRPr lang="zh-CN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Mn</a:t>
                      </a:r>
                      <a:r>
                        <a:rPr kumimoji="0" lang="en-US" altLang="zh-CN" sz="8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3+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-Peak 3</a:t>
                      </a:r>
                      <a:endParaRPr kumimoji="0" lang="zh-CN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641.67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1.42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kern="1200" noProof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GL(50)</a:t>
                      </a:r>
                      <a:endParaRPr lang="zh-CN" altLang="zh-CN" sz="80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8.14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5732967"/>
                  </a:ext>
                </a:extLst>
              </a:tr>
              <a:tr h="7640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8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12</a:t>
                      </a:r>
                      <a:endParaRPr lang="zh-CN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Mn</a:t>
                      </a:r>
                      <a:r>
                        <a:rPr kumimoji="0" lang="en-US" altLang="zh-CN" sz="8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3+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-Peak 4</a:t>
                      </a:r>
                      <a:endParaRPr kumimoji="0" lang="zh-CN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642.38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1.42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kern="1200" noProof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GL(50)</a:t>
                      </a:r>
                      <a:endParaRPr lang="zh-CN" altLang="zh-CN" sz="80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6.31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56005"/>
                  </a:ext>
                </a:extLst>
              </a:tr>
              <a:tr h="7640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altLang="zh-CN" sz="800" dirty="0"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13</a:t>
                      </a:r>
                      <a:endParaRPr lang="zh-CN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Mn</a:t>
                      </a:r>
                      <a:r>
                        <a:rPr kumimoji="0" lang="en-US" altLang="zh-CN" sz="8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3+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-Peak 5</a:t>
                      </a:r>
                      <a:endParaRPr kumimoji="0" lang="zh-CN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643.21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1.42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kern="12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GL(50)</a:t>
                      </a:r>
                      <a:endParaRPr lang="zh-CN" altLang="zh-CN" sz="80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3.33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8735372"/>
                  </a:ext>
                </a:extLst>
              </a:tr>
              <a:tr h="7640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altLang="zh-CN" sz="800" dirty="0"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14</a:t>
                      </a:r>
                      <a:endParaRPr lang="zh-CN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Mn</a:t>
                      </a:r>
                      <a:r>
                        <a:rPr kumimoji="0" lang="en-US" altLang="zh-CN" sz="8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3+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-Peak 6</a:t>
                      </a:r>
                      <a:endParaRPr kumimoji="0" lang="zh-CN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644.09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1.42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kern="1200" noProof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GL(50)</a:t>
                      </a:r>
                      <a:endParaRPr lang="zh-CN" altLang="zh-CN" sz="80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1.79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6840559"/>
                  </a:ext>
                </a:extLst>
              </a:tr>
              <a:tr h="7640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altLang="zh-CN" sz="800" dirty="0"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15</a:t>
                      </a:r>
                      <a:endParaRPr lang="zh-CN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Mn</a:t>
                      </a:r>
                      <a:r>
                        <a:rPr kumimoji="0" lang="en-US" altLang="zh-CN" sz="8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3+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-Peak 7</a:t>
                      </a:r>
                      <a:endParaRPr kumimoji="0" lang="zh-CN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645.07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1.42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kern="12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GL(50)</a:t>
                      </a:r>
                      <a:endParaRPr lang="zh-CN" altLang="zh-CN" sz="80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0.74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3576969"/>
                  </a:ext>
                </a:extLst>
              </a:tr>
              <a:tr h="7640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altLang="zh-CN" sz="800" dirty="0"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16</a:t>
                      </a:r>
                      <a:endParaRPr lang="zh-CN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Mn</a:t>
                      </a:r>
                      <a:r>
                        <a:rPr kumimoji="0" lang="en-US" altLang="zh-CN" sz="8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3+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-Peak 8</a:t>
                      </a:r>
                      <a:endParaRPr kumimoji="0" lang="zh-CN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638.31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1.42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kern="12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GL(50)</a:t>
                      </a:r>
                      <a:endParaRPr lang="zh-CN" altLang="zh-CN" sz="80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1429573"/>
                  </a:ext>
                </a:extLst>
              </a:tr>
              <a:tr h="7640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altLang="zh-CN" sz="800" dirty="0"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17</a:t>
                      </a:r>
                      <a:endParaRPr lang="zh-CN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Mn</a:t>
                      </a:r>
                      <a:r>
                        <a:rPr kumimoji="0" lang="en-US" altLang="zh-CN" sz="8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2+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-Peak 1</a:t>
                      </a:r>
                      <a:endParaRPr kumimoji="0" lang="zh-CN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638.68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1.42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kern="12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GL(50)</a:t>
                      </a:r>
                      <a:endParaRPr lang="zh-CN" altLang="zh-CN" sz="80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0.65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0089243"/>
                  </a:ext>
                </a:extLst>
              </a:tr>
              <a:tr h="7640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altLang="zh-CN" sz="800" dirty="0"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18</a:t>
                      </a:r>
                      <a:endParaRPr lang="zh-CN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Mn</a:t>
                      </a:r>
                      <a:r>
                        <a:rPr kumimoji="0" lang="en-US" altLang="zh-CN" sz="8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2+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-Peak 2</a:t>
                      </a:r>
                      <a:endParaRPr kumimoji="0" lang="zh-CN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639.72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1.42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kern="12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GL(30)</a:t>
                      </a:r>
                      <a:endParaRPr lang="zh-CN" altLang="zh-CN" sz="80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0.46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6139011"/>
                  </a:ext>
                </a:extLst>
              </a:tr>
              <a:tr h="7640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altLang="zh-CN" sz="800" dirty="0"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19</a:t>
                      </a:r>
                      <a:endParaRPr lang="zh-CN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Mn</a:t>
                      </a:r>
                      <a:r>
                        <a:rPr kumimoji="0" lang="en-US" altLang="zh-CN" sz="8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2+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-Peak 3</a:t>
                      </a:r>
                      <a:endParaRPr kumimoji="0" lang="zh-CN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640.48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1.42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kern="12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GL(30)</a:t>
                      </a:r>
                      <a:endParaRPr lang="zh-CN" altLang="zh-CN" sz="80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0.33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4968409"/>
                  </a:ext>
                </a:extLst>
              </a:tr>
              <a:tr h="7640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altLang="zh-CN" sz="800" dirty="0"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20</a:t>
                      </a:r>
                      <a:endParaRPr lang="zh-CN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Mn</a:t>
                      </a:r>
                      <a:r>
                        <a:rPr kumimoji="0" lang="en-US" altLang="zh-CN" sz="8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2+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-Peak 4</a:t>
                      </a:r>
                      <a:endParaRPr kumimoji="0" lang="zh-CN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641.36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1.42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kern="12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GL(30)</a:t>
                      </a:r>
                      <a:endParaRPr lang="zh-CN" altLang="zh-CN" sz="80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0.23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9701401"/>
                  </a:ext>
                </a:extLst>
              </a:tr>
              <a:tr h="7640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altLang="zh-CN" sz="800" dirty="0"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21</a:t>
                      </a:r>
                      <a:endParaRPr lang="zh-CN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Mn</a:t>
                      </a:r>
                      <a:r>
                        <a:rPr kumimoji="0" lang="en-US" altLang="zh-CN" sz="8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2+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-Peak 5</a:t>
                      </a:r>
                      <a:endParaRPr kumimoji="0" lang="zh-CN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642.44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1.42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kern="1200" noProof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GL(30)</a:t>
                      </a:r>
                      <a:endParaRPr lang="zh-CN" altLang="zh-CN" sz="80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0.11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2421500"/>
                  </a:ext>
                </a:extLst>
              </a:tr>
              <a:tr h="7640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altLang="zh-CN" sz="800" dirty="0"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22</a:t>
                      </a:r>
                      <a:endParaRPr lang="zh-CN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Mn</a:t>
                      </a:r>
                      <a:r>
                        <a:rPr kumimoji="0" lang="en-US" altLang="zh-CN" sz="8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2+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-Peak 6</a:t>
                      </a:r>
                      <a:endParaRPr kumimoji="0" lang="zh-CN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643.53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1.42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kern="1200" noProof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GL(30)</a:t>
                      </a:r>
                      <a:endParaRPr lang="zh-CN" altLang="zh-CN" sz="80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0.05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4639490"/>
                  </a:ext>
                </a:extLst>
              </a:tr>
              <a:tr h="7640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altLang="zh-CN" sz="800" dirty="0"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23</a:t>
                      </a:r>
                      <a:endParaRPr lang="zh-CN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Mn</a:t>
                      </a:r>
                      <a:r>
                        <a:rPr kumimoji="0" lang="en-US" altLang="zh-CN" sz="8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2+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-Peak 7</a:t>
                      </a:r>
                      <a:endParaRPr kumimoji="0" lang="zh-CN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645.56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1.42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kern="12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GL(30)</a:t>
                      </a:r>
                      <a:endParaRPr lang="zh-CN" altLang="zh-CN" sz="80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0.21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0144506"/>
                  </a:ext>
                </a:extLst>
              </a:tr>
              <a:tr h="86203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altLang="zh-CN" sz="8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24</a:t>
                      </a:r>
                      <a:endParaRPr lang="zh-CN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Mn</a:t>
                      </a:r>
                      <a:r>
                        <a:rPr kumimoji="0" lang="en-US" altLang="zh-CN" sz="8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2+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-Peak 8</a:t>
                      </a:r>
                      <a:endParaRPr kumimoji="0" lang="zh-CN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637.03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1.42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kern="12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GL(30)</a:t>
                      </a:r>
                      <a:endParaRPr lang="zh-CN" altLang="zh-CN" sz="80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0.03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8249960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7F303FB8-1D4B-658E-476B-05C76495CC25}"/>
              </a:ext>
            </a:extLst>
          </p:cNvPr>
          <p:cNvSpPr txBox="1"/>
          <p:nvPr/>
        </p:nvSpPr>
        <p:spPr>
          <a:xfrm>
            <a:off x="269624" y="4846981"/>
            <a:ext cx="87178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The fitting parameters of the Mn2p3/2 spectra, such as the relative amounts of each oxidation state, were presented in right table. The spectra was calibrated using the C1s peak at 284.4 eV.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3EB19C3-2F1F-29D7-A290-6F6AC603DF86}"/>
              </a:ext>
            </a:extLst>
          </p:cNvPr>
          <p:cNvSpPr txBox="1"/>
          <p:nvPr/>
        </p:nvSpPr>
        <p:spPr>
          <a:xfrm>
            <a:off x="217807" y="119626"/>
            <a:ext cx="11021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A</a:t>
            </a:r>
            <a:r>
              <a:rPr lang="zh-CN" altLang="en-US" dirty="0"/>
              <a:t>fter </a:t>
            </a:r>
            <a:r>
              <a:rPr lang="en-US" altLang="zh-CN" dirty="0"/>
              <a:t>N</a:t>
            </a:r>
            <a:r>
              <a:rPr lang="zh-CN" altLang="en-US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698762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10">
            <a:extLst>
              <a:ext uri="{FF2B5EF4-FFF2-40B4-BE49-F238E27FC236}">
                <a16:creationId xmlns:a16="http://schemas.microsoft.com/office/drawing/2014/main" id="{7F99D1AD-E314-487D-B060-EB4920B825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8835352"/>
              </p:ext>
            </p:extLst>
          </p:nvPr>
        </p:nvGraphicFramePr>
        <p:xfrm>
          <a:off x="639763" y="404813"/>
          <a:ext cx="4322762" cy="368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1836881" imgH="1564687" progId="Origin95.Graph">
                  <p:embed/>
                </p:oleObj>
              </mc:Choice>
              <mc:Fallback>
                <p:oleObj name="Graph" r:id="rId2" imgW="1836881" imgH="1564687" progId="Origin95.Graph">
                  <p:embed/>
                  <p:pic>
                    <p:nvPicPr>
                      <p:cNvPr id="4" name="Object 10">
                        <a:extLst>
                          <a:ext uri="{FF2B5EF4-FFF2-40B4-BE49-F238E27FC236}">
                            <a16:creationId xmlns:a16="http://schemas.microsoft.com/office/drawing/2014/main" id="{7F99D1AD-E314-487D-B060-EB4920B825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39763" y="404813"/>
                        <a:ext cx="4322762" cy="3683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0">
            <a:extLst>
              <a:ext uri="{FF2B5EF4-FFF2-40B4-BE49-F238E27FC236}">
                <a16:creationId xmlns:a16="http://schemas.microsoft.com/office/drawing/2014/main" id="{28F3E84E-3217-CC54-620F-E123116D2FA6}"/>
              </a:ext>
            </a:extLst>
          </p:cNvPr>
          <p:cNvSpPr txBox="1"/>
          <p:nvPr/>
        </p:nvSpPr>
        <p:spPr>
          <a:xfrm>
            <a:off x="1374442" y="1118193"/>
            <a:ext cx="784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M60%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E88A7CC-AD78-78C0-2886-B99360151CBA}"/>
              </a:ext>
            </a:extLst>
          </p:cNvPr>
          <p:cNvSpPr txBox="1"/>
          <p:nvPr/>
        </p:nvSpPr>
        <p:spPr>
          <a:xfrm>
            <a:off x="3451412" y="933800"/>
            <a:ext cx="8002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Mn2p</a:t>
            </a:r>
            <a:r>
              <a:rPr kumimoji="1" lang="en-US" altLang="zh-CN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3/2</a:t>
            </a:r>
            <a:endParaRPr kumimoji="1" lang="zh-CN" altLang="en-US" sz="14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直线箭头连接符 21">
            <a:extLst>
              <a:ext uri="{FF2B5EF4-FFF2-40B4-BE49-F238E27FC236}">
                <a16:creationId xmlns:a16="http://schemas.microsoft.com/office/drawing/2014/main" id="{043B9126-1DF4-D9ED-5F96-BD66D5981198}"/>
              </a:ext>
            </a:extLst>
          </p:cNvPr>
          <p:cNvCxnSpPr/>
          <p:nvPr/>
        </p:nvCxnSpPr>
        <p:spPr>
          <a:xfrm>
            <a:off x="3159836" y="1812421"/>
            <a:ext cx="316976" cy="2857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箭头连接符 23">
            <a:extLst>
              <a:ext uri="{FF2B5EF4-FFF2-40B4-BE49-F238E27FC236}">
                <a16:creationId xmlns:a16="http://schemas.microsoft.com/office/drawing/2014/main" id="{681EBBDE-9C66-9917-8AF9-65D7637CE33F}"/>
              </a:ext>
            </a:extLst>
          </p:cNvPr>
          <p:cNvCxnSpPr>
            <a:cxnSpLocks/>
          </p:cNvCxnSpPr>
          <p:nvPr/>
        </p:nvCxnSpPr>
        <p:spPr>
          <a:xfrm flipV="1">
            <a:off x="3164413" y="2812414"/>
            <a:ext cx="336679" cy="553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箭头连接符 25">
            <a:extLst>
              <a:ext uri="{FF2B5EF4-FFF2-40B4-BE49-F238E27FC236}">
                <a16:creationId xmlns:a16="http://schemas.microsoft.com/office/drawing/2014/main" id="{791924B3-5FCF-BDC9-C000-E1587CCB0DD5}"/>
              </a:ext>
            </a:extLst>
          </p:cNvPr>
          <p:cNvCxnSpPr>
            <a:cxnSpLocks/>
          </p:cNvCxnSpPr>
          <p:nvPr/>
        </p:nvCxnSpPr>
        <p:spPr>
          <a:xfrm flipV="1">
            <a:off x="3347500" y="3039550"/>
            <a:ext cx="353488" cy="61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B7FCD0B7-A4D7-7451-923E-55EAF46746BE}"/>
              </a:ext>
            </a:extLst>
          </p:cNvPr>
          <p:cNvSpPr txBox="1"/>
          <p:nvPr/>
        </p:nvSpPr>
        <p:spPr>
          <a:xfrm>
            <a:off x="2331005" y="1557292"/>
            <a:ext cx="12282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52.81% Mn</a:t>
            </a:r>
            <a:r>
              <a:rPr kumimoji="1" lang="en-US" altLang="zh-CN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4+</a:t>
            </a:r>
            <a:endParaRPr kumimoji="1" lang="zh-CN" altLang="en-US" sz="14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8C7554B-925E-6889-88CB-191279EF258B}"/>
              </a:ext>
            </a:extLst>
          </p:cNvPr>
          <p:cNvSpPr txBox="1"/>
          <p:nvPr/>
        </p:nvSpPr>
        <p:spPr>
          <a:xfrm>
            <a:off x="1932526" y="2734908"/>
            <a:ext cx="12282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44.41% Mn</a:t>
            </a:r>
            <a:r>
              <a:rPr kumimoji="1" lang="en-US" altLang="zh-CN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3+</a:t>
            </a:r>
            <a:endParaRPr kumimoji="1" lang="zh-CN" altLang="en-US" sz="14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9CFDC33-5131-11A0-0283-60A275827B46}"/>
              </a:ext>
            </a:extLst>
          </p:cNvPr>
          <p:cNvSpPr txBox="1"/>
          <p:nvPr/>
        </p:nvSpPr>
        <p:spPr>
          <a:xfrm>
            <a:off x="2258680" y="2946661"/>
            <a:ext cx="11288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2.77% Mn</a:t>
            </a:r>
            <a:r>
              <a:rPr kumimoji="1" lang="en-US" altLang="zh-CN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  <a:endParaRPr kumimoji="1" lang="zh-CN" altLang="en-US" sz="14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CF04176B-BE0B-3496-77FE-7F32BF7318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7774475"/>
              </p:ext>
            </p:extLst>
          </p:nvPr>
        </p:nvGraphicFramePr>
        <p:xfrm>
          <a:off x="4789808" y="927968"/>
          <a:ext cx="3486597" cy="3458960"/>
        </p:xfrm>
        <a:graphic>
          <a:graphicData uri="http://schemas.openxmlformats.org/drawingml/2006/table">
            <a:tbl>
              <a:tblPr firstRow="1" firstCol="1" bandRow="1"/>
              <a:tblGrid>
                <a:gridCol w="239392">
                  <a:extLst>
                    <a:ext uri="{9D8B030D-6E8A-4147-A177-3AD203B41FA5}">
                      <a16:colId xmlns:a16="http://schemas.microsoft.com/office/drawing/2014/main" val="4228399510"/>
                    </a:ext>
                  </a:extLst>
                </a:gridCol>
                <a:gridCol w="736416">
                  <a:extLst>
                    <a:ext uri="{9D8B030D-6E8A-4147-A177-3AD203B41FA5}">
                      <a16:colId xmlns:a16="http://schemas.microsoft.com/office/drawing/2014/main" val="4236290709"/>
                    </a:ext>
                  </a:extLst>
                </a:gridCol>
                <a:gridCol w="760366">
                  <a:extLst>
                    <a:ext uri="{9D8B030D-6E8A-4147-A177-3AD203B41FA5}">
                      <a16:colId xmlns:a16="http://schemas.microsoft.com/office/drawing/2014/main" val="3375985183"/>
                    </a:ext>
                  </a:extLst>
                </a:gridCol>
                <a:gridCol w="673469">
                  <a:extLst>
                    <a:ext uri="{9D8B030D-6E8A-4147-A177-3AD203B41FA5}">
                      <a16:colId xmlns:a16="http://schemas.microsoft.com/office/drawing/2014/main" val="440522404"/>
                    </a:ext>
                  </a:extLst>
                </a:gridCol>
                <a:gridCol w="660101">
                  <a:extLst>
                    <a:ext uri="{9D8B030D-6E8A-4147-A177-3AD203B41FA5}">
                      <a16:colId xmlns:a16="http://schemas.microsoft.com/office/drawing/2014/main" val="2609361704"/>
                    </a:ext>
                  </a:extLst>
                </a:gridCol>
                <a:gridCol w="416853">
                  <a:extLst>
                    <a:ext uri="{9D8B030D-6E8A-4147-A177-3AD203B41FA5}">
                      <a16:colId xmlns:a16="http://schemas.microsoft.com/office/drawing/2014/main" val="1920514764"/>
                    </a:ext>
                  </a:extLst>
                </a:gridCol>
              </a:tblGrid>
              <a:tr h="110354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No</a:t>
                      </a:r>
                      <a:endParaRPr lang="zh-CN" sz="900" b="1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Name</a:t>
                      </a:r>
                      <a:endParaRPr lang="zh-CN" sz="900" b="1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Position (eV)</a:t>
                      </a:r>
                      <a:endParaRPr lang="zh-CN" sz="900" b="1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FWHM (eV)</a:t>
                      </a:r>
                      <a:endParaRPr lang="zh-CN" sz="900" b="1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Line shape</a:t>
                      </a:r>
                      <a:endParaRPr lang="zh-CN" sz="900" b="1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altLang="zh-CN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At%</a:t>
                      </a:r>
                      <a:endParaRPr lang="zh-CN" sz="900" b="1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8357024"/>
                  </a:ext>
                </a:extLst>
              </a:tr>
              <a:tr h="143879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8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</a:t>
                      </a:r>
                      <a:endParaRPr lang="zh-CN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8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Mn</a:t>
                      </a:r>
                      <a:r>
                        <a:rPr lang="en-US" sz="800" baseline="300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4+</a:t>
                      </a:r>
                      <a:r>
                        <a:rPr lang="en-US" sz="8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-Peak 1</a:t>
                      </a:r>
                      <a:endParaRPr lang="zh-CN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641.45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1.25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GL(50)</a:t>
                      </a:r>
                      <a:endParaRPr lang="zh-CN" altLang="en-US" sz="80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20.23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8642294"/>
                  </a:ext>
                </a:extLst>
              </a:tr>
              <a:tr h="86203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8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2</a:t>
                      </a:r>
                      <a:endParaRPr lang="zh-CN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8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Mn</a:t>
                      </a:r>
                      <a:r>
                        <a:rPr lang="en-US" sz="800" baseline="300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4+</a:t>
                      </a:r>
                      <a:r>
                        <a:rPr lang="en-US" sz="8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-Peak 2</a:t>
                      </a:r>
                      <a:endParaRPr lang="zh-CN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642.19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1.25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kern="12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GL(50)</a:t>
                      </a:r>
                      <a:endParaRPr lang="zh-CN" altLang="zh-CN" sz="80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10.81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1852876"/>
                  </a:ext>
                </a:extLst>
              </a:tr>
              <a:tr h="86203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8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3</a:t>
                      </a:r>
                      <a:endParaRPr lang="zh-CN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8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Mn</a:t>
                      </a:r>
                      <a:r>
                        <a:rPr lang="en-US" sz="800" baseline="300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4+</a:t>
                      </a:r>
                      <a:r>
                        <a:rPr lang="en-US" sz="8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-Peak 3</a:t>
                      </a:r>
                      <a:endParaRPr lang="zh-CN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642.78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1.25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kern="12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GL(50)</a:t>
                      </a:r>
                      <a:endParaRPr lang="zh-CN" altLang="zh-CN" sz="80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10.04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1520048"/>
                  </a:ext>
                </a:extLst>
              </a:tr>
              <a:tr h="86203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4</a:t>
                      </a:r>
                      <a:endParaRPr lang="zh-CN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8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Mn</a:t>
                      </a:r>
                      <a:r>
                        <a:rPr lang="en-US" sz="800" baseline="300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4+</a:t>
                      </a:r>
                      <a:r>
                        <a:rPr lang="en-US" sz="8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-Peak 4</a:t>
                      </a:r>
                      <a:endParaRPr lang="zh-CN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643.48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1.25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kern="1200" noProof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GL(50)</a:t>
                      </a:r>
                      <a:endParaRPr lang="zh-CN" altLang="zh-CN" sz="80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5.6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7776393"/>
                  </a:ext>
                </a:extLst>
              </a:tr>
              <a:tr h="86203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5</a:t>
                      </a:r>
                      <a:endParaRPr lang="zh-CN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8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Mn</a:t>
                      </a:r>
                      <a:r>
                        <a:rPr lang="en-US" sz="800" baseline="300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4+</a:t>
                      </a:r>
                      <a:r>
                        <a:rPr lang="en-US" sz="8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-Peak 5</a:t>
                      </a:r>
                      <a:endParaRPr lang="zh-CN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644.3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1.25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kern="1200" noProof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GL(50)</a:t>
                      </a:r>
                      <a:endParaRPr lang="zh-CN" altLang="zh-CN" sz="80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3.38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6798750"/>
                  </a:ext>
                </a:extLst>
              </a:tr>
              <a:tr h="86203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</a:t>
                      </a:r>
                      <a:endParaRPr lang="zh-CN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Mn</a:t>
                      </a:r>
                      <a:r>
                        <a:rPr kumimoji="0" lang="en-US" altLang="zh-CN" sz="8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4+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-Peak 6</a:t>
                      </a:r>
                      <a:endParaRPr kumimoji="0" lang="zh-CN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645.17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1.25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kern="1200" noProof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GL(50)</a:t>
                      </a:r>
                      <a:endParaRPr lang="zh-CN" altLang="zh-CN" sz="80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1.76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0953373"/>
                  </a:ext>
                </a:extLst>
              </a:tr>
              <a:tr h="86203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7</a:t>
                      </a:r>
                      <a:endParaRPr lang="zh-CN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Mn</a:t>
                      </a:r>
                      <a:r>
                        <a:rPr kumimoji="0" lang="en-US" altLang="zh-CN" sz="8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4+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-Peak 7</a:t>
                      </a:r>
                      <a:endParaRPr kumimoji="0" lang="zh-CN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646.26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1.25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kern="1200" noProof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GL(50)</a:t>
                      </a:r>
                      <a:endParaRPr lang="zh-CN" altLang="zh-CN" sz="80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0.73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956094"/>
                  </a:ext>
                </a:extLst>
              </a:tr>
              <a:tr h="86203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8</a:t>
                      </a:r>
                      <a:endParaRPr lang="zh-CN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Mn</a:t>
                      </a:r>
                      <a:r>
                        <a:rPr kumimoji="0" lang="en-US" altLang="zh-CN" sz="8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4+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-Peak 8</a:t>
                      </a:r>
                      <a:endParaRPr kumimoji="0" lang="zh-CN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646.48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1.25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kern="12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GL(50)</a:t>
                      </a:r>
                      <a:endParaRPr lang="zh-CN" altLang="zh-CN" sz="80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5164"/>
                  </a:ext>
                </a:extLst>
              </a:tr>
              <a:tr h="86203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9</a:t>
                      </a:r>
                      <a:endParaRPr lang="zh-CN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8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Mn</a:t>
                      </a:r>
                      <a:r>
                        <a:rPr lang="en-US" sz="800" baseline="300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3+</a:t>
                      </a:r>
                      <a:r>
                        <a:rPr lang="en-US" sz="8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-Peak 1</a:t>
                      </a:r>
                      <a:endParaRPr lang="zh-CN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640.16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1.35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kern="12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GL(50)</a:t>
                      </a:r>
                      <a:endParaRPr lang="zh-CN" altLang="zh-CN" sz="80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10.99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1878869"/>
                  </a:ext>
                </a:extLst>
              </a:tr>
              <a:tr h="86203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10</a:t>
                      </a:r>
                      <a:endParaRPr lang="zh-CN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Mn</a:t>
                      </a:r>
                      <a:r>
                        <a:rPr kumimoji="0" lang="en-US" altLang="zh-CN" sz="8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3+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-Peak 2</a:t>
                      </a:r>
                      <a:endParaRPr kumimoji="0" lang="zh-CN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640.95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1.35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kern="12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GL(50)</a:t>
                      </a:r>
                      <a:endParaRPr lang="zh-CN" altLang="zh-CN" sz="80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11.04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1514785"/>
                  </a:ext>
                </a:extLst>
              </a:tr>
              <a:tr h="86203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11</a:t>
                      </a:r>
                      <a:endParaRPr lang="zh-CN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Mn</a:t>
                      </a:r>
                      <a:r>
                        <a:rPr kumimoji="0" lang="en-US" altLang="zh-CN" sz="8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3+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-Peak 3</a:t>
                      </a:r>
                      <a:endParaRPr kumimoji="0" lang="zh-CN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641.67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1.35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kern="12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GL(50)</a:t>
                      </a:r>
                      <a:endParaRPr lang="zh-CN" altLang="zh-CN" sz="80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8.81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5732967"/>
                  </a:ext>
                </a:extLst>
              </a:tr>
              <a:tr h="7640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sz="8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12</a:t>
                      </a:r>
                      <a:endParaRPr lang="zh-CN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Mn</a:t>
                      </a:r>
                      <a:r>
                        <a:rPr kumimoji="0" lang="en-US" altLang="zh-CN" sz="8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3+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-Peak 4</a:t>
                      </a:r>
                      <a:endParaRPr kumimoji="0" lang="zh-CN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642.38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1.35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kern="12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GL(50)</a:t>
                      </a:r>
                      <a:endParaRPr lang="zh-CN" altLang="zh-CN" sz="80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6.83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56005"/>
                  </a:ext>
                </a:extLst>
              </a:tr>
              <a:tr h="7640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altLang="zh-CN" sz="800" dirty="0"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13</a:t>
                      </a:r>
                      <a:endParaRPr lang="zh-CN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Mn</a:t>
                      </a:r>
                      <a:r>
                        <a:rPr kumimoji="0" lang="en-US" altLang="zh-CN" sz="8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3+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-Peak 5</a:t>
                      </a:r>
                      <a:endParaRPr kumimoji="0" lang="zh-CN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643.21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1.35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kern="12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GL(50)</a:t>
                      </a:r>
                      <a:endParaRPr lang="zh-CN" altLang="zh-CN" sz="80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3.6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8735372"/>
                  </a:ext>
                </a:extLst>
              </a:tr>
              <a:tr h="7640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altLang="zh-CN" sz="800" dirty="0"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14</a:t>
                      </a:r>
                      <a:endParaRPr lang="zh-CN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Mn</a:t>
                      </a:r>
                      <a:r>
                        <a:rPr kumimoji="0" lang="en-US" altLang="zh-CN" sz="8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3+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-Peak 6</a:t>
                      </a:r>
                      <a:endParaRPr kumimoji="0" lang="zh-CN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644.09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1.35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kern="12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GL(50)</a:t>
                      </a:r>
                      <a:endParaRPr lang="zh-CN" altLang="zh-CN" sz="80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1.93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6840559"/>
                  </a:ext>
                </a:extLst>
              </a:tr>
              <a:tr h="7640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altLang="zh-CN" sz="800" dirty="0"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15</a:t>
                      </a:r>
                      <a:endParaRPr lang="zh-CN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Mn</a:t>
                      </a:r>
                      <a:r>
                        <a:rPr kumimoji="0" lang="en-US" altLang="zh-CN" sz="8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3+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-Peak 7</a:t>
                      </a:r>
                      <a:endParaRPr kumimoji="0" lang="zh-CN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645.07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1.35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kern="12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GL(50)</a:t>
                      </a:r>
                      <a:endParaRPr lang="zh-CN" altLang="zh-CN" sz="80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0.81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3576969"/>
                  </a:ext>
                </a:extLst>
              </a:tr>
              <a:tr h="7640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altLang="zh-CN" sz="800" dirty="0"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16</a:t>
                      </a:r>
                      <a:endParaRPr lang="zh-CN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Mn</a:t>
                      </a:r>
                      <a:r>
                        <a:rPr kumimoji="0" lang="en-US" altLang="zh-CN" sz="8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3+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-Peak 8</a:t>
                      </a:r>
                      <a:endParaRPr kumimoji="0" lang="zh-CN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638.31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1.35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kern="12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GL(50)</a:t>
                      </a:r>
                      <a:endParaRPr lang="zh-CN" altLang="zh-CN" sz="80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0.4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1429573"/>
                  </a:ext>
                </a:extLst>
              </a:tr>
              <a:tr h="7640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altLang="zh-CN" sz="800" dirty="0"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17</a:t>
                      </a:r>
                      <a:endParaRPr lang="zh-CN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Mn</a:t>
                      </a:r>
                      <a:r>
                        <a:rPr kumimoji="0" lang="en-US" altLang="zh-CN" sz="8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2+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-Peak 1</a:t>
                      </a:r>
                      <a:endParaRPr kumimoji="0" lang="zh-CN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638.68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1.35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kern="12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GL(50)</a:t>
                      </a:r>
                      <a:endParaRPr lang="zh-CN" altLang="zh-CN" sz="80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0.88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0089243"/>
                  </a:ext>
                </a:extLst>
              </a:tr>
              <a:tr h="7640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altLang="zh-CN" sz="800" dirty="0"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18</a:t>
                      </a:r>
                      <a:endParaRPr lang="zh-CN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Mn</a:t>
                      </a:r>
                      <a:r>
                        <a:rPr kumimoji="0" lang="en-US" altLang="zh-CN" sz="8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2+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-Peak 2</a:t>
                      </a:r>
                      <a:endParaRPr kumimoji="0" lang="zh-CN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639.72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1.35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kern="12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GL(30)</a:t>
                      </a:r>
                      <a:endParaRPr lang="zh-CN" altLang="zh-CN" sz="80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0.62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6139011"/>
                  </a:ext>
                </a:extLst>
              </a:tr>
              <a:tr h="7640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altLang="zh-CN" sz="800" dirty="0"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19</a:t>
                      </a:r>
                      <a:endParaRPr lang="zh-CN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Mn</a:t>
                      </a:r>
                      <a:r>
                        <a:rPr kumimoji="0" lang="en-US" altLang="zh-CN" sz="8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2+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-Peak 3</a:t>
                      </a:r>
                      <a:endParaRPr kumimoji="0" lang="zh-CN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640.48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1.35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kern="12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GL(30)</a:t>
                      </a:r>
                      <a:endParaRPr lang="zh-CN" altLang="zh-CN" sz="80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0.44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4968409"/>
                  </a:ext>
                </a:extLst>
              </a:tr>
              <a:tr h="7640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altLang="zh-CN" sz="800" dirty="0"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20</a:t>
                      </a:r>
                      <a:endParaRPr lang="zh-CN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Mn</a:t>
                      </a:r>
                      <a:r>
                        <a:rPr kumimoji="0" lang="en-US" altLang="zh-CN" sz="8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2+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-Peak 4</a:t>
                      </a:r>
                      <a:endParaRPr kumimoji="0" lang="zh-CN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641.36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1.35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kern="12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GL(30)</a:t>
                      </a:r>
                      <a:endParaRPr lang="zh-CN" altLang="zh-CN" sz="80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0.31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9701401"/>
                  </a:ext>
                </a:extLst>
              </a:tr>
              <a:tr h="7640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altLang="zh-CN" sz="800" dirty="0"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21</a:t>
                      </a:r>
                      <a:endParaRPr lang="zh-CN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Mn</a:t>
                      </a:r>
                      <a:r>
                        <a:rPr kumimoji="0" lang="en-US" altLang="zh-CN" sz="8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2+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-Peak 5</a:t>
                      </a:r>
                      <a:endParaRPr kumimoji="0" lang="zh-CN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642.44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1.35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kern="1200" noProof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GL(30)</a:t>
                      </a:r>
                      <a:endParaRPr lang="zh-CN" altLang="zh-CN" sz="80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0.14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2421500"/>
                  </a:ext>
                </a:extLst>
              </a:tr>
              <a:tr h="7640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altLang="zh-CN" sz="800" dirty="0"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22</a:t>
                      </a:r>
                      <a:endParaRPr lang="zh-CN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Mn</a:t>
                      </a:r>
                      <a:r>
                        <a:rPr kumimoji="0" lang="en-US" altLang="zh-CN" sz="8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2+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-Peak 6</a:t>
                      </a:r>
                      <a:endParaRPr kumimoji="0" lang="zh-CN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643.53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1.35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kern="12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GL(30)</a:t>
                      </a:r>
                      <a:endParaRPr lang="zh-CN" altLang="zh-CN" sz="80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0.07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4639490"/>
                  </a:ext>
                </a:extLst>
              </a:tr>
              <a:tr h="7640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altLang="zh-CN" sz="800" dirty="0"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23</a:t>
                      </a:r>
                      <a:endParaRPr lang="zh-CN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Mn</a:t>
                      </a:r>
                      <a:r>
                        <a:rPr kumimoji="0" lang="en-US" altLang="zh-CN" sz="8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2+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-Peak 7</a:t>
                      </a:r>
                      <a:endParaRPr kumimoji="0" lang="zh-CN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645.56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1.35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kern="12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GL(30)</a:t>
                      </a:r>
                      <a:endParaRPr lang="zh-CN" altLang="zh-CN" sz="80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0144506"/>
                  </a:ext>
                </a:extLst>
              </a:tr>
              <a:tr h="86203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</a:pPr>
                      <a:r>
                        <a:rPr lang="en-US" altLang="zh-CN" sz="8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24</a:t>
                      </a:r>
                      <a:endParaRPr lang="zh-CN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Mn</a:t>
                      </a:r>
                      <a:r>
                        <a:rPr kumimoji="0" lang="en-US" altLang="zh-CN" sz="8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2+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-Peak 8</a:t>
                      </a:r>
                      <a:endParaRPr kumimoji="0" lang="zh-CN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637.03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1.35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25000"/>
                        </a:lnSpc>
                        <a:spcBef>
                          <a:spcPts val="10"/>
                        </a:spcBef>
                        <a:spcAft>
                          <a:spcPts val="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kern="12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GL(30)</a:t>
                      </a:r>
                      <a:endParaRPr lang="zh-CN" altLang="zh-CN" sz="80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8265" marR="182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0.03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8249960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216A7444-4C84-4B72-A638-21FA61178AFA}"/>
              </a:ext>
            </a:extLst>
          </p:cNvPr>
          <p:cNvSpPr txBox="1"/>
          <p:nvPr/>
        </p:nvSpPr>
        <p:spPr>
          <a:xfrm>
            <a:off x="269624" y="4846981"/>
            <a:ext cx="87178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The fitting parameters of the Mn2p3/2 spectra, such as the relative amounts of each oxidation state, were presented in right table. The spectra was calibrated using the C1s peak at 284.4 eV.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1AC27E9-5E92-09CF-B5FF-DBC52D630A6F}"/>
              </a:ext>
            </a:extLst>
          </p:cNvPr>
          <p:cNvSpPr txBox="1"/>
          <p:nvPr/>
        </p:nvSpPr>
        <p:spPr>
          <a:xfrm>
            <a:off x="217807" y="119626"/>
            <a:ext cx="11021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A</a:t>
            </a:r>
            <a:r>
              <a:rPr lang="zh-CN" altLang="en-US" dirty="0"/>
              <a:t>fter </a:t>
            </a:r>
            <a:r>
              <a:rPr lang="en-US" altLang="zh-CN" dirty="0"/>
              <a:t>K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82095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6742</TotalTime>
  <Words>1067</Words>
  <Application>Microsoft Office PowerPoint</Application>
  <PresentationFormat>画面に合わせる (4:3)</PresentationFormat>
  <Paragraphs>471</Paragraphs>
  <Slides>3</Slides>
  <Notes>0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Graph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Shuang Kong</dc:creator>
  <cp:lastModifiedBy>八束　孝一</cp:lastModifiedBy>
  <cp:revision>50</cp:revision>
  <dcterms:created xsi:type="dcterms:W3CDTF">2021-01-20T05:50:04Z</dcterms:created>
  <dcterms:modified xsi:type="dcterms:W3CDTF">2025-11-28T14:11:27Z</dcterms:modified>
</cp:coreProperties>
</file>